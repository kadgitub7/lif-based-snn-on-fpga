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682B91-7FAC-4AB5-BD58-D125BB3B368F}">
  <a:tblStyle styleId="{3B682B91-7FAC-4AB5-BD58-D125BB3B36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7a230c10223ed0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7a230c10223ed0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7a230c10223ed03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7a230c10223ed03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7a230c10223ed03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7a230c10223ed03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von Neumann Bottleneck vs. Co-located Architecture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Side-by-side architecture diagram.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Left: CPU/GPU showing constant energy-expensive data movement between the Memory (DRAM) and Logic/ALU across a bus.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>
                <a:solidFill>
                  <a:schemeClr val="dk1"/>
                </a:solidFill>
              </a:rPr>
              <a:t>Right: Neuromorphic crossbar array where memory cells (synapses) </a:t>
            </a:r>
            <a:r>
              <a:rPr i="1" lang="en">
                <a:solidFill>
                  <a:schemeClr val="dk1"/>
                </a:solidFill>
              </a:rPr>
              <a:t>are</a:t>
            </a:r>
            <a:r>
              <a:rPr lang="en">
                <a:solidFill>
                  <a:schemeClr val="dk1"/>
                </a:solidFill>
              </a:rPr>
              <a:t> the computational units.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Beginner Takeaway:</a:t>
            </a:r>
            <a:r>
              <a:rPr lang="en">
                <a:solidFill>
                  <a:schemeClr val="dk1"/>
                </a:solidFill>
              </a:rPr>
              <a:t> The human brain runs on ~20 Watts (less than a dim lightbulb) to perform complex real-time sensory processing. A modern GPU cluster performing high-level AI tasks consumes tens of thousands of Watts.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Experienced Takeaway:</a:t>
            </a:r>
            <a:r>
              <a:rPr lang="en">
                <a:solidFill>
                  <a:schemeClr val="dk1"/>
                </a:solidFill>
              </a:rPr>
              <a:t> Spatial locality and memory bandwidth limits (</a:t>
            </a:r>
            <a:r>
              <a:rPr i="1" lang="en">
                <a:solidFill>
                  <a:schemeClr val="dk1"/>
                </a:solidFill>
              </a:rPr>
              <a:t>E</a:t>
            </a:r>
            <a:r>
              <a:rPr lang="en" sz="300">
                <a:solidFill>
                  <a:schemeClr val="dk1"/>
                </a:solidFill>
              </a:rPr>
              <a:t>bus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≫</a:t>
            </a:r>
            <a:r>
              <a:rPr i="1" lang="en">
                <a:solidFill>
                  <a:schemeClr val="dk1"/>
                </a:solidFill>
              </a:rPr>
              <a:t>E</a:t>
            </a:r>
            <a:r>
              <a:rPr lang="en" sz="300">
                <a:solidFill>
                  <a:schemeClr val="dk1"/>
                </a:solidFill>
              </a:rPr>
              <a:t>compute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) dictate modern computing efficiency limits. Neuromorphic architectures solve the data-movement problem by computing directly inside memory banks.</a:t>
            </a:r>
            <a:endParaRPr>
              <a:solidFill>
                <a:schemeClr val="dk1"/>
              </a:solidFill>
            </a:endParaRPr>
          </a:p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Event-Driven (Sparsity) Processing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Synchronous clocks vs. asynchronous event-driven execution.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Analogy:</a:t>
            </a:r>
            <a:r>
              <a:rPr lang="en">
                <a:solidFill>
                  <a:schemeClr val="dk1"/>
                </a:solidFill>
              </a:rPr>
              <a:t> Traditional computing is like taking a photo every 1 millisecond regardless of whether anything moves. Neuromorphic computing is like a security camera that only turns on individual pixels when light level changes.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7a230c10223ed03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7a230c10223ed03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Anatomy of the Compute Unit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Diagram of a biological neuron labeled with both biological terms and engineering equivalents: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Dendrites</a:t>
            </a:r>
            <a:r>
              <a:rPr lang="en">
                <a:solidFill>
                  <a:schemeClr val="dk1"/>
                </a:solidFill>
              </a:rPr>
              <a:t> → Input channels / Buses.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Soma (Cell Body)</a:t>
            </a:r>
            <a:r>
              <a:rPr lang="en">
                <a:solidFill>
                  <a:schemeClr val="dk1"/>
                </a:solidFill>
              </a:rPr>
              <a:t> → Integrator / Comparator / Accumulator register.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Axon</a:t>
            </a:r>
            <a:r>
              <a:rPr lang="en">
                <a:solidFill>
                  <a:schemeClr val="dk1"/>
                </a:solidFill>
              </a:rPr>
              <a:t> → Output line / Transmission wire.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Synapse</a:t>
            </a:r>
            <a:r>
              <a:rPr lang="en">
                <a:solidFill>
                  <a:schemeClr val="dk1"/>
                </a:solidFill>
              </a:rPr>
              <a:t> → Programmable variable weight / Attenuator.</a:t>
            </a:r>
            <a:endParaRPr>
              <a:solidFill>
                <a:schemeClr val="dk1"/>
              </a:solidFill>
            </a:endParaRPr>
          </a:p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Action Potential (The "Spike")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Plot of membrane potential over time (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 vs. 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). Annotate the stages: Resting Potential (−70 mV), Depolarization, Spike Peak (+30 mV), Repolarization, and Refractory Period.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Beginner Takeaway:</a:t>
            </a:r>
            <a:r>
              <a:rPr lang="en">
                <a:solidFill>
                  <a:schemeClr val="dk1"/>
                </a:solidFill>
              </a:rPr>
              <a:t> The neuron collects small electrical pulses from its inputs. When the internal voltage crosses a specific threshold line, it fires a standard pulse onward and resets itself to zero.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Experienced Takeaway:</a:t>
            </a:r>
            <a:r>
              <a:rPr lang="en">
                <a:solidFill>
                  <a:schemeClr val="dk1"/>
                </a:solidFill>
              </a:rPr>
              <a:t> Information is encoded in </a:t>
            </a:r>
            <a:r>
              <a:rPr b="1" lang="en">
                <a:solidFill>
                  <a:schemeClr val="dk1"/>
                </a:solidFill>
              </a:rPr>
              <a:t>time and frequency</a:t>
            </a:r>
            <a:r>
              <a:rPr lang="en">
                <a:solidFill>
                  <a:schemeClr val="dk1"/>
                </a:solidFill>
              </a:rPr>
              <a:t> (point processes in stochastic time domain), not in static voltage levels. The </a:t>
            </a:r>
            <a:r>
              <a:rPr i="1" lang="en">
                <a:solidFill>
                  <a:schemeClr val="dk1"/>
                </a:solidFill>
              </a:rPr>
              <a:t>refractory period</a:t>
            </a:r>
            <a:r>
              <a:rPr lang="en">
                <a:solidFill>
                  <a:schemeClr val="dk1"/>
                </a:solidFill>
              </a:rPr>
              <a:t> imposes a hard physical maximum on firing frequency, preventing signal instability in the network.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7a230c10223ed03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7a230c10223ed0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"Leaky Bucket" Intuition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Diagram of a bucket with a small hole at the bottom.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Inflow:</a:t>
            </a:r>
            <a:r>
              <a:rPr lang="en">
                <a:solidFill>
                  <a:schemeClr val="dk1"/>
                </a:solidFill>
              </a:rPr>
              <a:t> Incoming spike currents filling the bucket.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Water Level:</a:t>
            </a:r>
            <a:r>
              <a:rPr lang="en">
                <a:solidFill>
                  <a:schemeClr val="dk1"/>
                </a:solidFill>
              </a:rPr>
              <a:t> Membrane potential (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)).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Hole at the bottom:</a:t>
            </a:r>
            <a:r>
              <a:rPr lang="en">
                <a:solidFill>
                  <a:schemeClr val="dk1"/>
                </a:solidFill>
              </a:rPr>
              <a:t> Natural passive leakage of charge over time.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b="1" lang="en">
                <a:solidFill>
                  <a:schemeClr val="dk1"/>
                </a:solidFill>
              </a:rPr>
              <a:t>Float Switch at top:</a:t>
            </a:r>
            <a:r>
              <a:rPr lang="en">
                <a:solidFill>
                  <a:schemeClr val="dk1"/>
                </a:solidFill>
              </a:rPr>
              <a:t> Threshold voltage (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 sz="300">
                <a:solidFill>
                  <a:schemeClr val="dk1"/>
                </a:solidFill>
              </a:rPr>
              <a:t>th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) that triggers a discharge and resets the water level.</a:t>
            </a:r>
            <a:endParaRPr>
              <a:solidFill>
                <a:schemeClr val="dk1"/>
              </a:solidFill>
            </a:endParaRPr>
          </a:p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Governing Differential Equation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Equation:</a:t>
            </a:r>
            <a:br>
              <a:rPr lang="en">
                <a:solidFill>
                  <a:schemeClr val="dk1"/>
                </a:solidFill>
              </a:rPr>
            </a:br>
            <a:r>
              <a:rPr i="1" lang="en">
                <a:solidFill>
                  <a:schemeClr val="dk1"/>
                </a:solidFill>
              </a:rPr>
              <a:t>τ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i="1" lang="en">
                <a:solidFill>
                  <a:schemeClr val="dk1"/>
                </a:solidFill>
              </a:rPr>
              <a:t>dtdV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=−(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)−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 sz="300">
                <a:solidFill>
                  <a:schemeClr val="dk1"/>
                </a:solidFill>
              </a:rPr>
              <a:t>rest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)+</a:t>
            </a:r>
            <a:r>
              <a:rPr i="1" lang="en">
                <a:solidFill>
                  <a:schemeClr val="dk1"/>
                </a:solidFill>
              </a:rPr>
              <a:t>R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Deconstruction for beginners:</a:t>
            </a:r>
            <a:endParaRPr i="1"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): The current voltage level.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i="1" lang="en">
                <a:solidFill>
                  <a:schemeClr val="dk1"/>
                </a:solidFill>
              </a:rPr>
              <a:t>τ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: The decay time constant—determines how fast charge leaks away.</a:t>
            </a:r>
            <a:endParaRPr>
              <a:solidFill>
                <a:schemeClr val="dk1"/>
              </a:solidFill>
            </a:endParaRPr>
          </a:p>
          <a:p>
            <a:pPr indent="-298450" lvl="2" marL="1143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i="1" lang="en">
                <a:solidFill>
                  <a:schemeClr val="dk1"/>
                </a:solidFill>
              </a:rPr>
              <a:t>R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): The incoming electrical current pushed by input synapses.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Reset Condition (Discrete Thresholding):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If 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)≥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 sz="300">
                <a:solidFill>
                  <a:schemeClr val="dk1"/>
                </a:solidFill>
              </a:rPr>
              <a:t>th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⟹Spike Output=1,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)←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 sz="300">
                <a:solidFill>
                  <a:schemeClr val="dk1"/>
                </a:solidFill>
              </a:rPr>
              <a:t>reset</a:t>
            </a:r>
            <a:r>
              <a:rPr lang="en" sz="100">
                <a:solidFill>
                  <a:schemeClr val="dk1"/>
                </a:solidFill>
              </a:rPr>
              <a:t>​</a:t>
            </a:r>
            <a:endParaRPr sz="100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Experienced Takeaway:</a:t>
            </a:r>
            <a:r>
              <a:rPr lang="en">
                <a:solidFill>
                  <a:schemeClr val="dk1"/>
                </a:solidFill>
              </a:rPr>
              <a:t> This is a first-order linear differential equation with a discontinuous reset boundary condition. In digital logic, this translates cleanly into an accumulator with an arithmetic right-shift (for leakage decay) and a comparator.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7a230c10223ed03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7a230c10223ed03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Subthreshold Analog CMOS Neurons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Simple circuit diagram showing a capacitor </a:t>
            </a:r>
            <a:r>
              <a:rPr i="1" lang="en">
                <a:solidFill>
                  <a:schemeClr val="dk1"/>
                </a:solidFill>
              </a:rPr>
              <a:t>C</a:t>
            </a:r>
            <a:r>
              <a:rPr i="1" lang="en" sz="700">
                <a:solidFill>
                  <a:schemeClr val="dk1"/>
                </a:solidFill>
              </a:rPr>
              <a:t>m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 charged by a current source and discharged by a leak transistor.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Concept:</a:t>
            </a:r>
            <a:r>
              <a:rPr lang="en">
                <a:solidFill>
                  <a:schemeClr val="dk1"/>
                </a:solidFill>
              </a:rPr>
              <a:t> If we operate transistors in the </a:t>
            </a:r>
            <a:r>
              <a:rPr b="1" lang="en">
                <a:solidFill>
                  <a:schemeClr val="dk1"/>
                </a:solidFill>
              </a:rPr>
              <a:t>subthreshold regime</a:t>
            </a:r>
            <a:r>
              <a:rPr lang="en">
                <a:solidFill>
                  <a:schemeClr val="dk1"/>
                </a:solidFill>
              </a:rPr>
              <a:t> (below their normal ON voltage), the current flowing through them follows an exponential relationship with gate voltage—matching the exponential physics of biological ion channels!</a:t>
            </a:r>
            <a:endParaRPr>
              <a:solidFill>
                <a:schemeClr val="dk1"/>
              </a:solidFill>
            </a:endParaRPr>
          </a:p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NSRAM &amp; Memristance (The Synapse Problem)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Crossbar matrix diagram with 2D grid lines (Wordlines &amp; Bitlines) connected at intersections by two-terminal non-volatile memory devices (NSRAM / RRAM / Memristors).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Beginner Takeaway:</a:t>
            </a:r>
            <a:r>
              <a:rPr lang="en">
                <a:solidFill>
                  <a:schemeClr val="dk1"/>
                </a:solidFill>
              </a:rPr>
              <a:t> A normal computer memory cell only remembers 1 or 0. A memristor or NSRAM cell can change its resistance continuously based on how much current has passed through it—it "remembers" its past activity like a biological synapse.</a:t>
            </a:r>
            <a:endParaRPr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Experienced Takeaway:</a:t>
            </a:r>
            <a:r>
              <a:rPr lang="en">
                <a:solidFill>
                  <a:schemeClr val="dk1"/>
                </a:solidFill>
              </a:rPr>
              <a:t> Ohm's Law (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=</a:t>
            </a:r>
            <a:r>
              <a:rPr i="1" lang="en">
                <a:solidFill>
                  <a:schemeClr val="dk1"/>
                </a:solidFill>
              </a:rPr>
              <a:t>G</a:t>
            </a:r>
            <a:r>
              <a:rPr lang="en">
                <a:solidFill>
                  <a:schemeClr val="dk1"/>
                </a:solidFill>
              </a:rPr>
              <a:t>⋅</a:t>
            </a:r>
            <a:r>
              <a:rPr i="1" lang="en">
                <a:solidFill>
                  <a:schemeClr val="dk1"/>
                </a:solidFill>
              </a:rPr>
              <a:t>V</a:t>
            </a:r>
            <a:r>
              <a:rPr lang="en">
                <a:solidFill>
                  <a:schemeClr val="dk1"/>
                </a:solidFill>
              </a:rPr>
              <a:t>) performs matrix-vector multiplication in parallel within the analog domain via Kirchhoff's Current Law (∑</a:t>
            </a:r>
            <a:r>
              <a:rPr i="1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=0). This removes the </a:t>
            </a: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 sz="7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memory read cost of deep learning layers down to an </a:t>
            </a:r>
            <a:r>
              <a:rPr i="1" lang="en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(1) constant-time physical process.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7a230c10223ed03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7a230c10223ed03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Preparation for Week 2 Lab</a:t>
            </a:r>
            <a:endParaRPr b="1">
              <a:solidFill>
                <a:schemeClr val="dk1"/>
              </a:solidFill>
            </a:endParaRPr>
          </a:p>
          <a:p>
            <a:pPr indent="-298450" lvl="1" marL="76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">
                <a:solidFill>
                  <a:schemeClr val="dk1"/>
                </a:solidFill>
              </a:rPr>
              <a:t>Assignment/Mental Exercise:</a:t>
            </a:r>
            <a:r>
              <a:rPr lang="en">
                <a:solidFill>
                  <a:schemeClr val="dk1"/>
                </a:solidFill>
              </a:rPr>
              <a:t> How do you turn a continuous derivative </a:t>
            </a:r>
            <a:r>
              <a:rPr i="1" lang="en" sz="500">
                <a:solidFill>
                  <a:schemeClr val="dk1"/>
                </a:solidFill>
              </a:rPr>
              <a:t>dtdV</a:t>
            </a:r>
            <a:r>
              <a:rPr lang="en" sz="100">
                <a:solidFill>
                  <a:schemeClr val="dk1"/>
                </a:solidFill>
              </a:rPr>
              <a:t>​</a:t>
            </a:r>
            <a:r>
              <a:rPr lang="en">
                <a:solidFill>
                  <a:schemeClr val="dk1"/>
                </a:solidFill>
              </a:rPr>
              <a:t> into a discrete update rule v[t] = v[t-1] + ... that a standard Python for loop can execute without using numpy or torch?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+ Neuromorphic Lecture 1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Introduction to Biological &amp; Artificial Neurons (Theory)</a:t>
            </a:r>
            <a:endParaRPr sz="3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Lectures Will be Structured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30 minutes: mini-lesson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15 minutes: small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15 minutes: questions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Biological &amp; Artificial Neurons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Neuromorphic Computing? 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The von Neumann Bottleneck vs. Co-located Architecture</a:t>
            </a:r>
            <a:endParaRPr b="1" sz="1100">
              <a:solidFill>
                <a:schemeClr val="dk1"/>
              </a:solidFill>
            </a:endParaRPr>
          </a:p>
          <a:p>
            <a:pPr indent="-29845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Event-Driven (Sparsity) Processing</a:t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75" y="1888050"/>
            <a:ext cx="5499128" cy="268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40441" l="35592" r="35609" t="26340"/>
          <a:stretch/>
        </p:blipFill>
        <p:spPr>
          <a:xfrm>
            <a:off x="5715000" y="1888050"/>
            <a:ext cx="3117300" cy="2475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Biological Neurons &amp; Action Potentials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Anatomy of a Neuron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Action Potential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1915445"/>
            <a:ext cx="4429149" cy="253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5372" y="1732050"/>
            <a:ext cx="3726925" cy="27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Modeling of Neurons 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509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Leaky Integrate Fire Neuron Model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0" l="0" r="0" t="55723"/>
          <a:stretch/>
        </p:blipFill>
        <p:spPr>
          <a:xfrm>
            <a:off x="311700" y="2046700"/>
            <a:ext cx="4969875" cy="16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5645575" y="1340625"/>
            <a:ext cx="351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573" y="1480073"/>
            <a:ext cx="3648775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5517375" y="2302025"/>
            <a:ext cx="364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Tao = decay constant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V(t) = Potential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V_rest = resting potential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RI = inputs with synaptic weights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Perspective 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Transistors as switches; emerging memory technologies and Memristors/NSRAM neuron models. 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69" y="2141575"/>
            <a:ext cx="2073275" cy="2679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9225" y="2141571"/>
            <a:ext cx="4679900" cy="233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&amp; Roadmap </a:t>
            </a:r>
            <a:endParaRPr/>
          </a:p>
        </p:txBody>
      </p:sp>
      <p:graphicFrame>
        <p:nvGraphicFramePr>
          <p:cNvPr id="106" name="Google Shape;106;p20"/>
          <p:cNvGraphicFramePr/>
          <p:nvPr/>
        </p:nvGraphicFramePr>
        <p:xfrm>
          <a:off x="31170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{3B682B91-7FAC-4AB5-BD58-D125BB3B368F}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" sz="1100"/>
                        <a:t>Concept</a:t>
                      </a:r>
                      <a:endParaRPr b="1" sz="1100"/>
                    </a:p>
                  </a:txBody>
                  <a:tcPr marT="114300" marB="1143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" sz="1100"/>
                        <a:t>Neurobiology</a:t>
                      </a:r>
                      <a:endParaRPr b="1" sz="1100"/>
                    </a:p>
                  </a:txBody>
                  <a:tcPr marT="114300" marB="1143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" sz="1100"/>
                        <a:t>Python Math (Week 2–4)</a:t>
                      </a:r>
                      <a:endParaRPr b="1" sz="1100"/>
                    </a:p>
                  </a:txBody>
                  <a:tcPr marT="114300" marB="1143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" sz="1100"/>
                        <a:t>Hardware / FPGA (Week 5–8)</a:t>
                      </a:r>
                      <a:endParaRPr b="1" sz="1100"/>
                    </a:p>
                  </a:txBody>
                  <a:tcPr marT="114300" marB="1143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1100"/>
                        <a:t>State Variable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Membrane Potential (</a:t>
                      </a:r>
                      <a:r>
                        <a:rPr i="1" lang="en" sz="1100"/>
                        <a:t>V</a:t>
                      </a:r>
                      <a:r>
                        <a:rPr i="1" lang="en" sz="700"/>
                        <a:t>m</a:t>
                      </a:r>
                      <a:r>
                        <a:rPr lang="en" sz="100"/>
                        <a:t>​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Float variable v_mem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Fixed-point Register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1100"/>
                        <a:t>Input Signal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Neurotransmitters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Time-series array / list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Digital pulse / Enable flag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1100"/>
                        <a:t>Leakage Dynamics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Passive Ion Channels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Multiply by decay factor (</a:t>
                      </a:r>
                      <a:r>
                        <a:rPr i="1" lang="en" sz="1100"/>
                        <a:t>e</a:t>
                      </a:r>
                      <a:r>
                        <a:rPr lang="en" sz="500"/>
                        <a:t>−Δ</a:t>
                      </a:r>
                      <a:r>
                        <a:rPr i="1" lang="en" sz="500"/>
                        <a:t>t</a:t>
                      </a:r>
                      <a:r>
                        <a:rPr lang="en" sz="500"/>
                        <a:t>/</a:t>
                      </a:r>
                      <a:r>
                        <a:rPr i="1" lang="en" sz="500"/>
                        <a:t>τ</a:t>
                      </a:r>
                      <a:r>
                        <a:rPr lang="en" sz="1100"/>
                        <a:t>)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Arithmetic Bit-Shift (&gt;&gt;&gt;)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1100"/>
                        <a:t>Synaptic Weight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Receptor density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Scalar floating point weight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Block RAM / Fixed-Point Value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b="1" lang="en" sz="1100"/>
                        <a:t>Event Output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Action Potential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Boolean flag / Spike array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" sz="1100"/>
                        <a:t>Single-bit wire high (1'b1)</a:t>
                      </a:r>
                      <a:endParaRPr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C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